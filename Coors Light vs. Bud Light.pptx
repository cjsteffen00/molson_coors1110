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60" r:id="rId5"/>
    <p:sldId id="267" r:id="rId6"/>
    <p:sldId id="272" r:id="rId7"/>
    <p:sldId id="275" r:id="rId8"/>
    <p:sldId id="262" r:id="rId9"/>
    <p:sldId id="265" r:id="rId10"/>
    <p:sldId id="271" r:id="rId11"/>
    <p:sldId id="278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7E30"/>
    <a:srgbClr val="F4BD02"/>
    <a:srgbClr val="0B1E42"/>
    <a:srgbClr val="3A9D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F49FD-9AE7-E0EB-8DFE-DFE3619264B3}" v="528" dt="2025-11-09T22:05:05.545"/>
    <p1510:client id="{31A12E28-5BB6-C149-AF95-AACB73AB207C}" v="5109" dt="2025-11-09T23:05:11.070"/>
    <p1510:client id="{47A777F3-D97E-6821-9961-04B46855F259}" v="979" dt="2025-11-09T22:51:13.444"/>
    <p1510:client id="{4C5BBFCE-3AED-3DE2-CBDB-9228CF9D2024}" v="427" dt="2025-11-09T21:01:10"/>
    <p1510:client id="{7070F9ED-5EC2-4273-2706-10AA6892ABCB}" v="511" dt="2025-11-09T21:03:14.359"/>
    <p1510:client id="{BA85895A-A161-1FCB-F8D0-2C9946B623C8}" v="28" dt="2025-11-09T22:43:02.576"/>
    <p1510:client id="{BA8D0B2F-7F16-8A1B-7967-0EA2D35D1035}" v="96" dt="2025-11-09T22:51:29.722"/>
    <p1510:client id="{C860F2C2-C11D-13EC-1693-AD96B59B6883}" v="151" dt="2025-11-09T22:45:36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0"/>
    <p:restoredTop sz="84406"/>
  </p:normalViewPr>
  <p:slideViewPr>
    <p:cSldViewPr snapToGrid="0">
      <p:cViewPr varScale="1">
        <p:scale>
          <a:sx n="101" d="100"/>
          <a:sy n="101" d="100"/>
        </p:scale>
        <p:origin x="11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B1836-6D70-F147-B882-5F7AAACCC5C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4002D-C532-0241-B7A1-18AFBB17F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61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afternoon! Thanks for taking the time to sit in on our optimality analysis.</a:t>
            </a:r>
          </a:p>
          <a:p>
            <a:endParaRPr lang="en-US" dirty="0"/>
          </a:p>
          <a:p>
            <a:r>
              <a:rPr lang="en-US" dirty="0"/>
              <a:t>My name is Chuck, and I am going to start us off on this small adventure.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03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all know, beer and malt beverage sales are of growing importance, and one of the key-ways to improve sales is optimizing product descriptions on all platforms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06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wanted to focus on was Natural language processing, or NLP. The goal is to focus our attention on 2 big brands, Coors Light and Bud Light. Which after analyzing each products performance, we can generate the best possible output to increase that sales index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05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score - Stuff like no artificial flavors, or preservatives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15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get rid of title and bar on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2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get rid of title and legend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91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"ugly" too much white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06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45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https://marketkeep.com/seo-keywords-for-breweries/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4002D-C532-0241-B7A1-18AFBB17FB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9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EA67-9745-ADC4-BC20-214756FC9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67124-6FDC-9856-E16A-792F265B6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54E5D-55E3-FF56-BCD6-479D02F1D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984DF-45DB-FA6F-7D02-1C721D7F8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DD1DA-569F-9408-A4F9-F4038C13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7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7EF7-31E0-E7E5-8B31-8FA887B58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1A870-41C6-ABF1-4582-73B49586D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9E45A-0C96-7984-A104-D1AC5CF0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67644-1125-FD6E-E92E-1445B0404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5FCAB-ADE9-8E10-59AA-F2DE82ACA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3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7C15-CC18-D113-3ACD-37C4A43C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A7A9B-5281-357C-FC50-FC5EF1092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85412-ECCE-FF83-D8F2-AAF4101E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040E5-D972-CBFC-18E4-5EA71DDA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96D7C-FCBF-80B6-196A-74E5573E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8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07D5-6309-A8F1-A245-76A240CA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DA4AC-DFFE-5514-DB83-78D842D95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13B96-486A-4FD5-A944-A3B471BCF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7BEA8-25CD-D92A-BCB8-E81055C9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D8BE4-7AE1-73A2-3A55-4B846B1D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E0177-440E-1784-4224-F33BF319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B46C-FD44-24B5-43D9-C4A02622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24D9C-2947-AC57-FB82-7492950CD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323FD-8702-4FFD-A2B2-E30476C24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62AEB-5079-281C-7CEC-2675239E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929AC1-7C78-50DD-04B0-B03955AD6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33277-490F-AB7F-1CA6-AA347350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7AD847-F745-04C9-765B-6293280B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7DFEA7-9507-5C09-C12B-B036549F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5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B221-E913-4862-A49A-37530ADE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CB3B5-7129-3DAF-6861-52DF4362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3AAD8-4FCD-12E0-8BBB-9B349C24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49B5D-26FD-8C27-AE34-A978DFBA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7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86BBB3-153B-91A6-034A-37421E9E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0BA06-9798-F57D-DBAA-EECD0DE5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272E5-6637-0292-AD0E-2F45750F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5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5821-D306-0919-5B45-C40B04B3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AC3CB-D5B4-0638-8512-D2452327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DD071-D176-42D5-D6BE-2019C5D68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516C8-74E8-24DC-4793-942934A5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E86E2-82A8-36BC-015D-C0B2688E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5377D-C093-8849-4C2E-19DF5D9AA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6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0220-0D1B-7B78-1263-691B1C02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A39CA-591B-7D7E-AFE1-E535E90C7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9218C-2771-136B-0164-0219745D2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C3C3B-9607-D54F-C13E-C7C7E1A5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6F647-0702-DD5B-66E2-6898A3FE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B9B92-63BF-C15B-F366-FCC6FA25F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0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A931-2B81-4C6B-8EC8-7E43BC8D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D6CE4-826A-36BF-C8D7-F406E684B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086E5-C6E3-17D2-2150-E0DD9934E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3DAB1-4E8F-D05F-886C-FB48BE60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4CE8E-7DAC-60BB-8E93-895DED395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B9579F-7538-D78B-FEE3-BC5AF3915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EF12B-6558-56FE-31B5-13C640D5AC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C7047-ADCD-50B4-E6C2-6FAC07119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C7C47-9EA7-8021-FA1D-5465E564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1FDE7-B939-1CEE-2A55-13CE2BB2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8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89ACC-BA2F-3C9C-7D84-1D53A2BCE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C791F-7AA1-98B8-EA73-9214D7B3C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925FA-1B11-9045-1D37-615749CD1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D2782-D495-BF42-852D-5B631F563500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B75D-B8A2-D94B-E655-CDE3FC0C0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4DBDE-587F-C6D0-5480-7CF6FFF12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21D0C-176A-834F-A31D-A56B30547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2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7335-0157-815F-6421-510D74367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936" y="1553745"/>
            <a:ext cx="11218127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0B1E42"/>
                </a:solidFill>
                <a:latin typeface="Morn" pitchFamily="2" charset="77"/>
                <a:cs typeface="Circular Std Medium" panose="020B0604020101010102" pitchFamily="34" charset="77"/>
              </a:rPr>
              <a:t>Optimizing Product Descriptions</a:t>
            </a:r>
            <a:br>
              <a:rPr lang="en-US" sz="5400" dirty="0">
                <a:solidFill>
                  <a:srgbClr val="0B1E42"/>
                </a:solidFill>
                <a:latin typeface="Morn" pitchFamily="2" charset="77"/>
                <a:cs typeface="Circular Std Medium" panose="020B0604020101010102" pitchFamily="34" charset="77"/>
              </a:rPr>
            </a:br>
            <a:r>
              <a:rPr lang="en-US" sz="4400" b="1" dirty="0">
                <a:solidFill>
                  <a:srgbClr val="0B1E42"/>
                </a:solidFill>
                <a:latin typeface="Morn Thin" pitchFamily="2" charset="77"/>
                <a:cs typeface="Circular Std Medium" panose="020B0604020101010102" pitchFamily="34" charset="77"/>
              </a:rPr>
              <a:t>Coors Light vs. Bud Light</a:t>
            </a:r>
            <a:endParaRPr lang="en-US" sz="4400" dirty="0">
              <a:solidFill>
                <a:srgbClr val="0B1E42"/>
              </a:solidFill>
              <a:latin typeface="Morn" pitchFamily="2" charset="77"/>
              <a:cs typeface="Circular Std Medium" panose="020B0604020101010102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BB182-D911-8810-376A-F372836E8EEC}"/>
              </a:ext>
            </a:extLst>
          </p:cNvPr>
          <p:cNvSpPr/>
          <p:nvPr/>
        </p:nvSpPr>
        <p:spPr>
          <a:xfrm>
            <a:off x="633665" y="4223085"/>
            <a:ext cx="10467473" cy="9625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7AB07D-7184-E6BA-5200-62E66CC62214}"/>
              </a:ext>
            </a:extLst>
          </p:cNvPr>
          <p:cNvSpPr/>
          <p:nvPr/>
        </p:nvSpPr>
        <p:spPr>
          <a:xfrm>
            <a:off x="862263" y="4379496"/>
            <a:ext cx="10467473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A96D0-4F3A-A0FD-9581-5F953FA7563B}"/>
              </a:ext>
            </a:extLst>
          </p:cNvPr>
          <p:cNvSpPr/>
          <p:nvPr/>
        </p:nvSpPr>
        <p:spPr>
          <a:xfrm>
            <a:off x="1014665" y="4523875"/>
            <a:ext cx="10467473" cy="9625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FB240-B5BF-B016-2DDE-F0155030F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13" y="386095"/>
            <a:ext cx="10515600" cy="1325563"/>
          </a:xfrm>
        </p:spPr>
        <p:txBody>
          <a:bodyPr/>
          <a:lstStyle/>
          <a:p>
            <a:pPr algn="ctr"/>
            <a:r>
              <a:rPr lang="en-US">
                <a:solidFill>
                  <a:srgbClr val="0B1E42"/>
                </a:solidFill>
                <a:latin typeface="Morn"/>
              </a:rPr>
              <a:t>Online B2C Sales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B2A4F36-211E-EA55-13C1-5B7EEEF56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3413" y="1799410"/>
            <a:ext cx="5181600" cy="435133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E42"/>
                </a:solidFill>
                <a:latin typeface="Morn Thin" pitchFamily="2" charset="77"/>
              </a:rPr>
              <a:t>Beer and Malt beverage eCommerce sales</a:t>
            </a:r>
          </a:p>
          <a:p>
            <a:pPr marL="0" indent="0" algn="ctr">
              <a:buNone/>
            </a:pPr>
            <a:endParaRPr lang="en-US" dirty="0">
              <a:solidFill>
                <a:srgbClr val="0B1E42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0B1E42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0B1E42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rgbClr val="0B1E42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BD73545-37E6-EEE9-A6BD-601A6BEDB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6576" y="1799410"/>
            <a:ext cx="5181600" cy="4351338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b="1">
                <a:solidFill>
                  <a:srgbClr val="0B1E42"/>
                </a:solidFill>
                <a:latin typeface="Morn Thin" pitchFamily="2" charset="77"/>
              </a:rPr>
              <a:t>Product description improvement</a:t>
            </a:r>
          </a:p>
          <a:p>
            <a:pPr marL="0" indent="0" algn="ctr">
              <a:buNone/>
            </a:pPr>
            <a:endParaRPr lang="en-US">
              <a:solidFill>
                <a:srgbClr val="0B1E42"/>
              </a:solidFill>
            </a:endParaRPr>
          </a:p>
          <a:p>
            <a:pPr marL="0" indent="0" algn="ctr">
              <a:buNone/>
            </a:pPr>
            <a:endParaRPr lang="en-US">
              <a:solidFill>
                <a:srgbClr val="0B1E42"/>
              </a:solidFill>
            </a:endParaRPr>
          </a:p>
          <a:p>
            <a:pPr marL="0" indent="0" algn="ctr">
              <a:buNone/>
            </a:pPr>
            <a:endParaRPr lang="en-US">
              <a:solidFill>
                <a:srgbClr val="0B1E42"/>
              </a:solidFill>
            </a:endParaRPr>
          </a:p>
          <a:p>
            <a:pPr marL="0" indent="0" algn="ctr">
              <a:buNone/>
            </a:pPr>
            <a:endParaRPr lang="en-US">
              <a:solidFill>
                <a:srgbClr val="0B1E4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81674F-D4A3-364F-D9D9-2287D062398F}"/>
              </a:ext>
            </a:extLst>
          </p:cNvPr>
          <p:cNvSpPr/>
          <p:nvPr/>
        </p:nvSpPr>
        <p:spPr>
          <a:xfrm>
            <a:off x="338613" y="6328465"/>
            <a:ext cx="11335926" cy="8587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4175D-5173-29B9-EC1C-A4DD74CD7F33}"/>
              </a:ext>
            </a:extLst>
          </p:cNvPr>
          <p:cNvSpPr/>
          <p:nvPr/>
        </p:nvSpPr>
        <p:spPr>
          <a:xfrm flipV="1">
            <a:off x="688690" y="6489247"/>
            <a:ext cx="11167405" cy="87732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F54B9-B508-909C-45A1-523258FB7BE0}"/>
              </a:ext>
            </a:extLst>
          </p:cNvPr>
          <p:cNvSpPr/>
          <p:nvPr/>
        </p:nvSpPr>
        <p:spPr>
          <a:xfrm>
            <a:off x="1117179" y="6667906"/>
            <a:ext cx="10909211" cy="91395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DC52D-5C6A-EA21-33AC-034DEDB57518}"/>
              </a:ext>
            </a:extLst>
          </p:cNvPr>
          <p:cNvSpPr/>
          <p:nvPr/>
        </p:nvSpPr>
        <p:spPr>
          <a:xfrm rot="16200000">
            <a:off x="8520913" y="3260464"/>
            <a:ext cx="6213967" cy="93780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7BF96-C0D2-E56B-693E-4A296EDE4564}"/>
              </a:ext>
            </a:extLst>
          </p:cNvPr>
          <p:cNvSpPr/>
          <p:nvPr/>
        </p:nvSpPr>
        <p:spPr>
          <a:xfrm rot="16200000">
            <a:off x="8790923" y="3512302"/>
            <a:ext cx="6033101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901ABB-449D-F58C-2E40-CCA2826EC7B1}"/>
              </a:ext>
            </a:extLst>
          </p:cNvPr>
          <p:cNvSpPr/>
          <p:nvPr/>
        </p:nvSpPr>
        <p:spPr>
          <a:xfrm rot="5400000">
            <a:off x="9058259" y="3790924"/>
            <a:ext cx="5850882" cy="8587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a coin and a graph&#10;&#10;AI-generated content may be incorrect.">
            <a:extLst>
              <a:ext uri="{FF2B5EF4-FFF2-40B4-BE49-F238E27FC236}">
                <a16:creationId xmlns:a16="http://schemas.microsoft.com/office/drawing/2014/main" id="{E37882E8-E7C7-AB28-8527-AED1EF33E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250" y="3833860"/>
            <a:ext cx="1346659" cy="1346659"/>
          </a:xfrm>
          <a:prstGeom prst="rect">
            <a:avLst/>
          </a:prstGeom>
        </p:spPr>
      </p:pic>
      <p:pic>
        <p:nvPicPr>
          <p:cNvPr id="8" name="Picture 7" descr="A blue circle with a dart in the center&#10;&#10;AI-generated content may be incorrect.">
            <a:extLst>
              <a:ext uri="{FF2B5EF4-FFF2-40B4-BE49-F238E27FC236}">
                <a16:creationId xmlns:a16="http://schemas.microsoft.com/office/drawing/2014/main" id="{2B940511-D019-C1F8-A16E-1FE3B44EC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046" y="3833860"/>
            <a:ext cx="1346659" cy="134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136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1220-4BC3-80DB-B175-78AF2242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rgbClr val="0B1E42"/>
                </a:solidFill>
                <a:latin typeface="Morn" pitchFamily="2" charset="77"/>
              </a:rPr>
              <a:t>Establishing Data Foundation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C5242-6297-DD70-B045-8804B3F74B75}"/>
              </a:ext>
            </a:extLst>
          </p:cNvPr>
          <p:cNvSpPr/>
          <p:nvPr/>
        </p:nvSpPr>
        <p:spPr>
          <a:xfrm>
            <a:off x="680961" y="6311900"/>
            <a:ext cx="10467473" cy="9625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A7D487-7E49-E50D-3B5E-FD4164E224E4}"/>
              </a:ext>
            </a:extLst>
          </p:cNvPr>
          <p:cNvSpPr/>
          <p:nvPr/>
        </p:nvSpPr>
        <p:spPr>
          <a:xfrm>
            <a:off x="909559" y="6468311"/>
            <a:ext cx="10467473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05EDBB-5AA9-F053-DA69-4602BB97DC67}"/>
              </a:ext>
            </a:extLst>
          </p:cNvPr>
          <p:cNvSpPr/>
          <p:nvPr/>
        </p:nvSpPr>
        <p:spPr>
          <a:xfrm>
            <a:off x="1061961" y="6612690"/>
            <a:ext cx="10467473" cy="9625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37215F-DEDC-63B0-F2FA-B6A676F73FAE}"/>
              </a:ext>
            </a:extLst>
          </p:cNvPr>
          <p:cNvSpPr txBox="1"/>
          <p:nvPr/>
        </p:nvSpPr>
        <p:spPr>
          <a:xfrm>
            <a:off x="-1683" y="3021526"/>
            <a:ext cx="21272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solidFill>
                  <a:srgbClr val="0B1E42"/>
                </a:solidFill>
                <a:latin typeface="Morn" pitchFamily="2" charset="77"/>
              </a:rPr>
              <a:t>NLP</a:t>
            </a:r>
          </a:p>
          <a:p>
            <a:pPr algn="ctr"/>
            <a:r>
              <a:rPr lang="en-US" sz="2600">
                <a:solidFill>
                  <a:srgbClr val="0B1E42"/>
                </a:solidFill>
                <a:latin typeface="Morn" pitchFamily="2" charset="77"/>
              </a:rPr>
              <a:t>Extraction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96314F-3E62-D9E9-BCC3-2A8CEAF75632}"/>
              </a:ext>
            </a:extLst>
          </p:cNvPr>
          <p:cNvSpPr txBox="1"/>
          <p:nvPr/>
        </p:nvSpPr>
        <p:spPr>
          <a:xfrm>
            <a:off x="2806689" y="3030537"/>
            <a:ext cx="212728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solidFill>
                  <a:srgbClr val="0B1E42"/>
                </a:solidFill>
                <a:latin typeface="Morn" pitchFamily="2" charset="77"/>
              </a:rPr>
              <a:t>Brand Focus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4443C5-8629-6A54-D6B6-8AC9E8ACC20A}"/>
              </a:ext>
            </a:extLst>
          </p:cNvPr>
          <p:cNvSpPr txBox="1"/>
          <p:nvPr/>
        </p:nvSpPr>
        <p:spPr>
          <a:xfrm>
            <a:off x="5970277" y="2982724"/>
            <a:ext cx="270994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solidFill>
                  <a:srgbClr val="0B1E42"/>
                </a:solidFill>
                <a:latin typeface="Morn" pitchFamily="2" charset="77"/>
              </a:rPr>
              <a:t>Cross-Product</a:t>
            </a:r>
          </a:p>
          <a:p>
            <a:pPr algn="ctr"/>
            <a:r>
              <a:rPr lang="en-US" sz="2600">
                <a:solidFill>
                  <a:srgbClr val="0B1E42"/>
                </a:solidFill>
                <a:latin typeface="Morn" pitchFamily="2" charset="77"/>
              </a:rPr>
              <a:t>Benchmarking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D55B6633-4886-4F74-71A6-4486C9044815}"/>
              </a:ext>
            </a:extLst>
          </p:cNvPr>
          <p:cNvSpPr/>
          <p:nvPr/>
        </p:nvSpPr>
        <p:spPr>
          <a:xfrm>
            <a:off x="2084393" y="3361866"/>
            <a:ext cx="848940" cy="211871"/>
          </a:xfrm>
          <a:prstGeom prst="rightArrow">
            <a:avLst/>
          </a:prstGeom>
          <a:solidFill>
            <a:srgbClr val="0B1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F114A28-7418-F1A1-2918-B116CFD0DD79}"/>
              </a:ext>
            </a:extLst>
          </p:cNvPr>
          <p:cNvSpPr/>
          <p:nvPr/>
        </p:nvSpPr>
        <p:spPr>
          <a:xfrm>
            <a:off x="4868970" y="3361866"/>
            <a:ext cx="848940" cy="211871"/>
          </a:xfrm>
          <a:prstGeom prst="rightArrow">
            <a:avLst/>
          </a:prstGeom>
          <a:solidFill>
            <a:srgbClr val="0B1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6911487-96A9-1C0C-104A-EFB732B4B3AC}"/>
              </a:ext>
            </a:extLst>
          </p:cNvPr>
          <p:cNvSpPr/>
          <p:nvPr/>
        </p:nvSpPr>
        <p:spPr>
          <a:xfrm>
            <a:off x="8773897" y="3361865"/>
            <a:ext cx="848940" cy="211871"/>
          </a:xfrm>
          <a:prstGeom prst="rightArrow">
            <a:avLst/>
          </a:prstGeom>
          <a:solidFill>
            <a:srgbClr val="0B1E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ADD1E6-4D30-9E21-38EC-91036FDEE23F}"/>
              </a:ext>
            </a:extLst>
          </p:cNvPr>
          <p:cNvSpPr txBox="1"/>
          <p:nvPr/>
        </p:nvSpPr>
        <p:spPr>
          <a:xfrm>
            <a:off x="9716517" y="2982724"/>
            <a:ext cx="24257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>
                <a:solidFill>
                  <a:srgbClr val="0B1E42"/>
                </a:solidFill>
                <a:latin typeface="Morn" pitchFamily="2" charset="77"/>
              </a:rPr>
              <a:t>Optimization Output</a:t>
            </a:r>
          </a:p>
        </p:txBody>
      </p:sp>
    </p:spTree>
    <p:extLst>
      <p:ext uri="{BB962C8B-B14F-4D97-AF65-F5344CB8AC3E}">
        <p14:creationId xmlns:p14="http://schemas.microsoft.com/office/powerpoint/2010/main" val="3700877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7B16E-9203-F537-150B-0007D527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00" y="28102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B1E42"/>
                </a:solidFill>
                <a:latin typeface="Morn" pitchFamily="2" charset="77"/>
              </a:rPr>
              <a:t>Understanding Correlation Patterns in the Sales Index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B72FB-EF4E-1217-BF57-BDF6B18C8FE9}"/>
              </a:ext>
            </a:extLst>
          </p:cNvPr>
          <p:cNvSpPr/>
          <p:nvPr/>
        </p:nvSpPr>
        <p:spPr>
          <a:xfrm>
            <a:off x="338613" y="6328465"/>
            <a:ext cx="11335926" cy="8587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9F3C6C-2936-767C-791F-EAA92D0F4D3C}"/>
              </a:ext>
            </a:extLst>
          </p:cNvPr>
          <p:cNvSpPr/>
          <p:nvPr/>
        </p:nvSpPr>
        <p:spPr>
          <a:xfrm flipV="1">
            <a:off x="688690" y="6489247"/>
            <a:ext cx="11167405" cy="87732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9C792E-497A-7A3B-DD61-F1A3AED8F789}"/>
              </a:ext>
            </a:extLst>
          </p:cNvPr>
          <p:cNvSpPr/>
          <p:nvPr/>
        </p:nvSpPr>
        <p:spPr>
          <a:xfrm>
            <a:off x="1117179" y="6667906"/>
            <a:ext cx="10909211" cy="91395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FCDB7-6807-D66E-A1C3-197F844B7E6F}"/>
              </a:ext>
            </a:extLst>
          </p:cNvPr>
          <p:cNvSpPr/>
          <p:nvPr/>
        </p:nvSpPr>
        <p:spPr>
          <a:xfrm rot="16200000">
            <a:off x="8520913" y="3260464"/>
            <a:ext cx="6213967" cy="93780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E1DE2F-4B76-18E5-25BD-8305C2D990FB}"/>
              </a:ext>
            </a:extLst>
          </p:cNvPr>
          <p:cNvSpPr/>
          <p:nvPr/>
        </p:nvSpPr>
        <p:spPr>
          <a:xfrm rot="16200000">
            <a:off x="8790923" y="3512302"/>
            <a:ext cx="6033101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C85B83-2D3E-10BF-06E7-ADA814B52579}"/>
              </a:ext>
            </a:extLst>
          </p:cNvPr>
          <p:cNvSpPr/>
          <p:nvPr/>
        </p:nvSpPr>
        <p:spPr>
          <a:xfrm rot="5400000">
            <a:off x="9058259" y="3790924"/>
            <a:ext cx="5850882" cy="8587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of a bar graph&#10;&#10;AI-generated content may be incorrect.">
            <a:extLst>
              <a:ext uri="{FF2B5EF4-FFF2-40B4-BE49-F238E27FC236}">
                <a16:creationId xmlns:a16="http://schemas.microsoft.com/office/drawing/2014/main" id="{32F47175-A4AB-EF0F-DB5B-6C1224926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506"/>
          <a:stretch>
            <a:fillRect/>
          </a:stretch>
        </p:blipFill>
        <p:spPr>
          <a:xfrm>
            <a:off x="2174798" y="1621450"/>
            <a:ext cx="6838804" cy="470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12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E5860-08DB-11A5-272E-C0B37A77A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E01E78-0083-D0F1-86A5-FF5C8A85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5" y="281021"/>
            <a:ext cx="10225130" cy="101082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0B1E42"/>
                </a:solidFill>
                <a:latin typeface="Morn"/>
              </a:rPr>
              <a:t>Facts, Length, and Density are the Top Drivers of AI Search Results</a:t>
            </a:r>
            <a:endParaRPr lang="en-US" dirty="0">
              <a:solidFill>
                <a:srgbClr val="0B1E42"/>
              </a:solidFill>
              <a:latin typeface="Morn" pitchFamily="2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A231C9-1136-08CE-4E14-0F805162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79"/>
          <a:stretch>
            <a:fillRect/>
          </a:stretch>
        </p:blipFill>
        <p:spPr>
          <a:xfrm>
            <a:off x="1586099" y="1285479"/>
            <a:ext cx="9114392" cy="50264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979721-0BC6-B007-2D65-8E329675C85F}"/>
              </a:ext>
            </a:extLst>
          </p:cNvPr>
          <p:cNvSpPr/>
          <p:nvPr/>
        </p:nvSpPr>
        <p:spPr>
          <a:xfrm>
            <a:off x="680961" y="6311900"/>
            <a:ext cx="10467473" cy="9625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5F02C-8A76-76FC-AC23-ACA130865E41}"/>
              </a:ext>
            </a:extLst>
          </p:cNvPr>
          <p:cNvSpPr/>
          <p:nvPr/>
        </p:nvSpPr>
        <p:spPr>
          <a:xfrm>
            <a:off x="909559" y="6468311"/>
            <a:ext cx="10467473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D1B08-9B78-17CA-9B07-D7C47C113D7F}"/>
              </a:ext>
            </a:extLst>
          </p:cNvPr>
          <p:cNvSpPr/>
          <p:nvPr/>
        </p:nvSpPr>
        <p:spPr>
          <a:xfrm>
            <a:off x="1061961" y="6612690"/>
            <a:ext cx="10467473" cy="9625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2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E830FA-9D1A-4CB1-5E9A-2AD1EDCD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85" y="0"/>
            <a:ext cx="10921181" cy="133994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Morn" pitchFamily="2" charset="77"/>
              </a:rPr>
              <a:t>Optimal Sentence Length Should Be 11-15 Words</a:t>
            </a:r>
          </a:p>
        </p:txBody>
      </p:sp>
      <p:pic>
        <p:nvPicPr>
          <p:cNvPr id="2" name="Picture 1" descr="A diagram of a short and short word&#10;&#10;AI-generated content may be incorrect.">
            <a:extLst>
              <a:ext uri="{FF2B5EF4-FFF2-40B4-BE49-F238E27FC236}">
                <a16:creationId xmlns:a16="http://schemas.microsoft.com/office/drawing/2014/main" id="{0F580922-5694-11AD-9B5C-743E1726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317" y="1026209"/>
            <a:ext cx="9040760" cy="52375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2106F5-75E6-B433-E307-B79BD45B66B8}"/>
              </a:ext>
            </a:extLst>
          </p:cNvPr>
          <p:cNvSpPr/>
          <p:nvPr/>
        </p:nvSpPr>
        <p:spPr>
          <a:xfrm>
            <a:off x="338613" y="6328465"/>
            <a:ext cx="11335926" cy="8587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D6D11-8FC5-7929-ECEC-38054F276A2F}"/>
              </a:ext>
            </a:extLst>
          </p:cNvPr>
          <p:cNvSpPr/>
          <p:nvPr/>
        </p:nvSpPr>
        <p:spPr>
          <a:xfrm flipV="1">
            <a:off x="688690" y="6489247"/>
            <a:ext cx="11167405" cy="87732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100227-07F8-AAC8-A941-A83077ADFE1C}"/>
              </a:ext>
            </a:extLst>
          </p:cNvPr>
          <p:cNvSpPr/>
          <p:nvPr/>
        </p:nvSpPr>
        <p:spPr>
          <a:xfrm>
            <a:off x="1117179" y="6667906"/>
            <a:ext cx="10909211" cy="91395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D7F3DD-34B3-9D99-27B7-6327172F1A0B}"/>
              </a:ext>
            </a:extLst>
          </p:cNvPr>
          <p:cNvSpPr/>
          <p:nvPr/>
        </p:nvSpPr>
        <p:spPr>
          <a:xfrm rot="16200000">
            <a:off x="8520913" y="3260464"/>
            <a:ext cx="6213967" cy="93780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31D562-C017-7B67-51D4-F9D80589C49D}"/>
              </a:ext>
            </a:extLst>
          </p:cNvPr>
          <p:cNvSpPr/>
          <p:nvPr/>
        </p:nvSpPr>
        <p:spPr>
          <a:xfrm rot="16200000">
            <a:off x="8790923" y="3512302"/>
            <a:ext cx="6033101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F9DE84-BFC6-73D8-18A5-D7E04C7E7A2A}"/>
              </a:ext>
            </a:extLst>
          </p:cNvPr>
          <p:cNvSpPr/>
          <p:nvPr/>
        </p:nvSpPr>
        <p:spPr>
          <a:xfrm rot="5400000">
            <a:off x="9058259" y="3790924"/>
            <a:ext cx="5850882" cy="8587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6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4E0394-F64B-5801-2202-390B4788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12" y="281021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B1E42"/>
                </a:solidFill>
              </a:rPr>
              <a:t>Fact Dense Ad Copy is Preferred By AI Search Engines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281F0-D6E5-840B-1889-D38FD736E5DF}"/>
              </a:ext>
            </a:extLst>
          </p:cNvPr>
          <p:cNvSpPr/>
          <p:nvPr/>
        </p:nvSpPr>
        <p:spPr>
          <a:xfrm>
            <a:off x="338613" y="6328465"/>
            <a:ext cx="11335926" cy="8587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810ED-4E1B-EE5B-D455-6F52BA1CF9C8}"/>
              </a:ext>
            </a:extLst>
          </p:cNvPr>
          <p:cNvSpPr/>
          <p:nvPr/>
        </p:nvSpPr>
        <p:spPr>
          <a:xfrm flipV="1">
            <a:off x="688690" y="6489247"/>
            <a:ext cx="11167405" cy="87732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52A7E3-8B0B-F4A2-7747-BED24E42A756}"/>
              </a:ext>
            </a:extLst>
          </p:cNvPr>
          <p:cNvSpPr/>
          <p:nvPr/>
        </p:nvSpPr>
        <p:spPr>
          <a:xfrm>
            <a:off x="1117179" y="6667906"/>
            <a:ext cx="10909211" cy="91395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7D693-AD94-8D7B-EF87-57CDAC07AFAF}"/>
              </a:ext>
            </a:extLst>
          </p:cNvPr>
          <p:cNvSpPr/>
          <p:nvPr/>
        </p:nvSpPr>
        <p:spPr>
          <a:xfrm rot="16200000">
            <a:off x="8520913" y="3260464"/>
            <a:ext cx="6213967" cy="93780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270E1F-761B-9045-08AA-D023AB018FC3}"/>
              </a:ext>
            </a:extLst>
          </p:cNvPr>
          <p:cNvSpPr/>
          <p:nvPr/>
        </p:nvSpPr>
        <p:spPr>
          <a:xfrm rot="16200000">
            <a:off x="8790923" y="3512302"/>
            <a:ext cx="6033101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BB9347-A82B-605B-E103-F58CC7027579}"/>
              </a:ext>
            </a:extLst>
          </p:cNvPr>
          <p:cNvSpPr/>
          <p:nvPr/>
        </p:nvSpPr>
        <p:spPr>
          <a:xfrm rot="5400000">
            <a:off x="9058259" y="3790924"/>
            <a:ext cx="5850882" cy="8587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45C1F0-EC41-2524-DDFA-FFBED07153D2}"/>
              </a:ext>
            </a:extLst>
          </p:cNvPr>
          <p:cNvGrpSpPr/>
          <p:nvPr/>
        </p:nvGrpSpPr>
        <p:grpSpPr>
          <a:xfrm>
            <a:off x="444281" y="2558653"/>
            <a:ext cx="10997961" cy="2817742"/>
            <a:chOff x="560363" y="1701445"/>
            <a:chExt cx="10180650" cy="2193125"/>
          </a:xfrm>
        </p:grpSpPr>
        <p:pic>
          <p:nvPicPr>
            <p:cNvPr id="13" name="Picture 12" descr="A graph with green and red rectangles&#10;&#10;AI-generated content may be incorrect.">
              <a:extLst>
                <a:ext uri="{FF2B5EF4-FFF2-40B4-BE49-F238E27FC236}">
                  <a16:creationId xmlns:a16="http://schemas.microsoft.com/office/drawing/2014/main" id="{B5D71BB0-EB3D-7D55-BF5C-D89A7BA79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265" t="18441" r="41189" b="55915"/>
            <a:stretch>
              <a:fillRect/>
            </a:stretch>
          </p:blipFill>
          <p:spPr>
            <a:xfrm>
              <a:off x="563078" y="1701445"/>
              <a:ext cx="6413509" cy="1346040"/>
            </a:xfrm>
            <a:prstGeom prst="rect">
              <a:avLst/>
            </a:prstGeom>
          </p:spPr>
        </p:pic>
        <p:pic>
          <p:nvPicPr>
            <p:cNvPr id="2" name="Picture 1" descr="A graph with green and red rectangles&#10;&#10;AI-generated content may be incorrect.">
              <a:extLst>
                <a:ext uri="{FF2B5EF4-FFF2-40B4-BE49-F238E27FC236}">
                  <a16:creationId xmlns:a16="http://schemas.microsoft.com/office/drawing/2014/main" id="{3743519B-9DE7-42A1-F1DB-7BD179387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795" t="60822" r="7020" b="21644"/>
            <a:stretch>
              <a:fillRect/>
            </a:stretch>
          </p:blipFill>
          <p:spPr>
            <a:xfrm>
              <a:off x="560363" y="2974212"/>
              <a:ext cx="10180650" cy="920358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EF392281-35D9-F2FC-2260-1758E302BF75}"/>
              </a:ext>
            </a:extLst>
          </p:cNvPr>
          <p:cNvSpPr txBox="1">
            <a:spLocks/>
          </p:cNvSpPr>
          <p:nvPr/>
        </p:nvSpPr>
        <p:spPr>
          <a:xfrm>
            <a:off x="748776" y="1697511"/>
            <a:ext cx="10515600" cy="5952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B1E42"/>
                </a:solidFill>
                <a:latin typeface="Morn Thin" pitchFamily="2" charset="77"/>
              </a:rPr>
              <a:t>ChatGPT | Claude | Perplexity | Gemini</a:t>
            </a:r>
          </a:p>
        </p:txBody>
      </p:sp>
    </p:spTree>
    <p:extLst>
      <p:ext uri="{BB962C8B-B14F-4D97-AF65-F5344CB8AC3E}">
        <p14:creationId xmlns:p14="http://schemas.microsoft.com/office/powerpoint/2010/main" val="7605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24DCCA-3403-E9F3-1B2B-75F4D3B3E007}"/>
              </a:ext>
            </a:extLst>
          </p:cNvPr>
          <p:cNvSpPr/>
          <p:nvPr/>
        </p:nvSpPr>
        <p:spPr>
          <a:xfrm>
            <a:off x="680961" y="6311900"/>
            <a:ext cx="10467473" cy="9625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3B9B0-77C2-C51A-3EC8-35A98E8FB7ED}"/>
              </a:ext>
            </a:extLst>
          </p:cNvPr>
          <p:cNvSpPr/>
          <p:nvPr/>
        </p:nvSpPr>
        <p:spPr>
          <a:xfrm>
            <a:off x="909559" y="6468311"/>
            <a:ext cx="10467473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AFA1FB-6EDD-0248-6320-0CE3005B8FAE}"/>
              </a:ext>
            </a:extLst>
          </p:cNvPr>
          <p:cNvSpPr/>
          <p:nvPr/>
        </p:nvSpPr>
        <p:spPr>
          <a:xfrm>
            <a:off x="1061961" y="6612690"/>
            <a:ext cx="10467473" cy="9625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70A66-48A7-473A-667F-40DA6B0723F8}"/>
              </a:ext>
            </a:extLst>
          </p:cNvPr>
          <p:cNvSpPr txBox="1"/>
          <p:nvPr/>
        </p:nvSpPr>
        <p:spPr>
          <a:xfrm>
            <a:off x="297504" y="287654"/>
            <a:ext cx="116915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>
                <a:solidFill>
                  <a:srgbClr val="0B1E42"/>
                </a:solidFill>
                <a:latin typeface="Morn"/>
                <a:ea typeface="+mj-ea"/>
                <a:cs typeface="+mj-cs"/>
              </a:rPr>
              <a:t>Optimizing Product Description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" name="Picture 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5783919-DC11-2340-10D0-A498C2B0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08" y="1706068"/>
            <a:ext cx="8486781" cy="44340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D637D0-9A39-B488-FCE2-F2FDFB51DD11}"/>
              </a:ext>
            </a:extLst>
          </p:cNvPr>
          <p:cNvSpPr txBox="1"/>
          <p:nvPr/>
        </p:nvSpPr>
        <p:spPr>
          <a:xfrm>
            <a:off x="1052763" y="1072584"/>
            <a:ext cx="10086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B1E42"/>
                </a:solidFill>
                <a:latin typeface="Morn"/>
              </a:rPr>
              <a:t>AI search Engines Increases Projected Sales Index Value by 24.3%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545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46AF-4FA5-4548-2393-8F40C410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B1E42"/>
                </a:solidFill>
                <a:latin typeface="Morn" pitchFamily="2" charset="77"/>
              </a:rPr>
              <a:t>8-Week Actionable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AF875-6DE0-1FA9-5EEB-6CCFCC8A72D8}"/>
              </a:ext>
            </a:extLst>
          </p:cNvPr>
          <p:cNvSpPr/>
          <p:nvPr/>
        </p:nvSpPr>
        <p:spPr>
          <a:xfrm>
            <a:off x="338613" y="6328465"/>
            <a:ext cx="11335926" cy="8587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52A8D2-408B-095F-6E9B-92D6E296A1D8}"/>
              </a:ext>
            </a:extLst>
          </p:cNvPr>
          <p:cNvSpPr/>
          <p:nvPr/>
        </p:nvSpPr>
        <p:spPr>
          <a:xfrm flipV="1">
            <a:off x="688690" y="6489247"/>
            <a:ext cx="11167405" cy="87732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E55918-FE04-9BE6-E3E6-FA223FB55C7D}"/>
              </a:ext>
            </a:extLst>
          </p:cNvPr>
          <p:cNvSpPr/>
          <p:nvPr/>
        </p:nvSpPr>
        <p:spPr>
          <a:xfrm>
            <a:off x="1117179" y="6667906"/>
            <a:ext cx="10909211" cy="91395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B47CA0-1D00-E8E5-C25F-A904432E752B}"/>
              </a:ext>
            </a:extLst>
          </p:cNvPr>
          <p:cNvSpPr/>
          <p:nvPr/>
        </p:nvSpPr>
        <p:spPr>
          <a:xfrm rot="16200000">
            <a:off x="8520913" y="3260464"/>
            <a:ext cx="6213967" cy="93780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B332ED-C678-8A7E-90B9-07EDC874D20A}"/>
              </a:ext>
            </a:extLst>
          </p:cNvPr>
          <p:cNvSpPr/>
          <p:nvPr/>
        </p:nvSpPr>
        <p:spPr>
          <a:xfrm rot="16200000">
            <a:off x="8790923" y="3512302"/>
            <a:ext cx="6033101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CBEE7B-0183-768B-9C2B-45DE85EBF3C1}"/>
              </a:ext>
            </a:extLst>
          </p:cNvPr>
          <p:cNvSpPr/>
          <p:nvPr/>
        </p:nvSpPr>
        <p:spPr>
          <a:xfrm rot="5400000">
            <a:off x="9058259" y="3790924"/>
            <a:ext cx="5850882" cy="8587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Callout 22">
            <a:extLst>
              <a:ext uri="{FF2B5EF4-FFF2-40B4-BE49-F238E27FC236}">
                <a16:creationId xmlns:a16="http://schemas.microsoft.com/office/drawing/2014/main" id="{7882AC93-AA83-A8B5-7AA7-AE499263C3E3}"/>
              </a:ext>
            </a:extLst>
          </p:cNvPr>
          <p:cNvSpPr/>
          <p:nvPr/>
        </p:nvSpPr>
        <p:spPr>
          <a:xfrm>
            <a:off x="1117179" y="1882623"/>
            <a:ext cx="2466619" cy="14732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0422"/>
            </a:avLst>
          </a:prstGeom>
          <a:solidFill>
            <a:srgbClr val="3A9DCA"/>
          </a:solidFill>
          <a:ln>
            <a:solidFill>
              <a:srgbClr val="3A9D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Audit All Products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(Weeks 1-2)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5" name="Down Arrow Callout 34">
            <a:extLst>
              <a:ext uri="{FF2B5EF4-FFF2-40B4-BE49-F238E27FC236}">
                <a16:creationId xmlns:a16="http://schemas.microsoft.com/office/drawing/2014/main" id="{8316AF0E-95B5-4C94-39F2-02D8C968091C}"/>
              </a:ext>
            </a:extLst>
          </p:cNvPr>
          <p:cNvSpPr/>
          <p:nvPr/>
        </p:nvSpPr>
        <p:spPr>
          <a:xfrm>
            <a:off x="5714312" y="1882623"/>
            <a:ext cx="2466619" cy="147320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0422"/>
            </a:avLst>
          </a:prstGeom>
          <a:solidFill>
            <a:srgbClr val="F4BD02"/>
          </a:solidFill>
          <a:ln>
            <a:solidFill>
              <a:srgbClr val="F4BD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Test and Monitor Performance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(Weeks 5-6)</a:t>
            </a:r>
          </a:p>
        </p:txBody>
      </p:sp>
      <p:sp>
        <p:nvSpPr>
          <p:cNvPr id="38" name="Up Arrow Callout 37">
            <a:extLst>
              <a:ext uri="{FF2B5EF4-FFF2-40B4-BE49-F238E27FC236}">
                <a16:creationId xmlns:a16="http://schemas.microsoft.com/office/drawing/2014/main" id="{F01FF6E4-B7F4-0DFE-97AE-791D42C66D63}"/>
              </a:ext>
            </a:extLst>
          </p:cNvPr>
          <p:cNvSpPr/>
          <p:nvPr/>
        </p:nvSpPr>
        <p:spPr>
          <a:xfrm>
            <a:off x="8032779" y="4055653"/>
            <a:ext cx="2466618" cy="1670401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9069"/>
            </a:avLst>
          </a:prstGeom>
          <a:solidFill>
            <a:srgbClr val="3A9DCA"/>
          </a:solidFill>
          <a:ln>
            <a:solidFill>
              <a:srgbClr val="3A9D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Redefine and Scale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(Weeks 7-8)</a:t>
            </a:r>
          </a:p>
        </p:txBody>
      </p:sp>
      <p:sp>
        <p:nvSpPr>
          <p:cNvPr id="39" name="Up Arrow Callout 38">
            <a:extLst>
              <a:ext uri="{FF2B5EF4-FFF2-40B4-BE49-F238E27FC236}">
                <a16:creationId xmlns:a16="http://schemas.microsoft.com/office/drawing/2014/main" id="{8368E15D-4487-75BF-EB4E-8CC942A49AC9}"/>
              </a:ext>
            </a:extLst>
          </p:cNvPr>
          <p:cNvSpPr/>
          <p:nvPr/>
        </p:nvSpPr>
        <p:spPr>
          <a:xfrm>
            <a:off x="3416816" y="4055654"/>
            <a:ext cx="2466618" cy="16704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9069"/>
            </a:avLst>
          </a:prstGeom>
          <a:solidFill>
            <a:srgbClr val="FD7E30"/>
          </a:solidFill>
          <a:ln>
            <a:solidFill>
              <a:srgbClr val="FD7E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Data Collection and Engagement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Morn Thin" pitchFamily="2" charset="77"/>
              </a:rPr>
              <a:t>(Weeks 3-4)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BD3A9F-B7B1-17AB-C9B4-651AD66CA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849" y="3328041"/>
            <a:ext cx="7772400" cy="76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65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4499-7F40-2CBE-334C-55F6CC9B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BA7E-B661-9E3E-9D88-137CF9729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79" y="149057"/>
            <a:ext cx="12049432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B1E42"/>
                </a:solidFill>
                <a:latin typeface="Morn"/>
              </a:rPr>
              <a:t>Regional Opportunities for Molson Coors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FD1F0-70D3-4E91-F094-0344DD7CF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073" y="2355556"/>
            <a:ext cx="10515600" cy="24647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E42"/>
                </a:solidFill>
                <a:latin typeface="Morn Thin" pitchFamily="2" charset="77"/>
                <a:ea typeface="+mn-lt"/>
                <a:cs typeface="+mn-lt"/>
              </a:rPr>
              <a:t>Kroger Priority States: Texas, Missouri, Ohio, Georgia, and North Carolina  gaps ranging from 11.0 to 32.5 points</a:t>
            </a:r>
          </a:p>
          <a:p>
            <a:pPr marL="0" indent="0">
              <a:buNone/>
            </a:pPr>
            <a:endParaRPr lang="en-US" sz="2400" b="1" dirty="0">
              <a:solidFill>
                <a:srgbClr val="0B1E42"/>
              </a:solidFill>
              <a:latin typeface="Morn Thin" pitchFamily="2" charset="77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B1E42"/>
                </a:solidFill>
                <a:latin typeface="Morn Thin" pitchFamily="2" charset="77"/>
                <a:ea typeface="+mn-lt"/>
                <a:cs typeface="+mn-lt"/>
              </a:rPr>
              <a:t>Key Take Away:</a:t>
            </a:r>
          </a:p>
          <a:p>
            <a:pPr marL="342900" indent="-342900"/>
            <a:r>
              <a:rPr lang="en-US" sz="2400" b="1" dirty="0">
                <a:solidFill>
                  <a:srgbClr val="0B1E42"/>
                </a:solidFill>
                <a:latin typeface="Morn Thin" pitchFamily="2" charset="77"/>
                <a:ea typeface="+mn-lt"/>
                <a:cs typeface="+mn-lt"/>
              </a:rPr>
              <a:t>If Molson Coors closed the gap by just 10 points in these 5 states, it will increase their exposure to consumer search</a:t>
            </a:r>
            <a:endParaRPr lang="en-US" sz="2400" dirty="0">
              <a:solidFill>
                <a:srgbClr val="0B1E42"/>
              </a:solidFill>
              <a:latin typeface="Aptos"/>
            </a:endParaRPr>
          </a:p>
          <a:p>
            <a:endParaRPr lang="en-US" sz="2400" b="1" dirty="0">
              <a:solidFill>
                <a:srgbClr val="0B1E42"/>
              </a:solidFill>
              <a:latin typeface="Morn Thin"/>
            </a:endParaRPr>
          </a:p>
          <a:p>
            <a:endParaRPr lang="en-US" sz="2400" b="1" dirty="0">
              <a:solidFill>
                <a:srgbClr val="0B1E42"/>
              </a:solidFill>
              <a:latin typeface="Morn Thi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6D2FEC-696C-567D-4D56-8AFEA7C08DB7}"/>
              </a:ext>
            </a:extLst>
          </p:cNvPr>
          <p:cNvSpPr/>
          <p:nvPr/>
        </p:nvSpPr>
        <p:spPr>
          <a:xfrm>
            <a:off x="680961" y="6311900"/>
            <a:ext cx="10467473" cy="9625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58DC47-5D37-B9AD-4952-08A85FBF4B02}"/>
              </a:ext>
            </a:extLst>
          </p:cNvPr>
          <p:cNvSpPr/>
          <p:nvPr/>
        </p:nvSpPr>
        <p:spPr>
          <a:xfrm>
            <a:off x="909559" y="6468311"/>
            <a:ext cx="10467473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A9ED22-163E-BC4B-2DC3-FDFD9A59397D}"/>
              </a:ext>
            </a:extLst>
          </p:cNvPr>
          <p:cNvSpPr/>
          <p:nvPr/>
        </p:nvSpPr>
        <p:spPr>
          <a:xfrm>
            <a:off x="1061961" y="6612690"/>
            <a:ext cx="10467473" cy="9625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9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EB680-180C-7FA6-9E6F-8E8CA4B2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14BA336-EFE4-9233-0AC9-46937253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45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B1E42"/>
                </a:solidFill>
                <a:latin typeface="Morn"/>
              </a:rPr>
              <a:t>Long-Term Holistic Approach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C8EF7-8F93-9F46-DEF2-8F18FE2D9667}"/>
              </a:ext>
            </a:extLst>
          </p:cNvPr>
          <p:cNvSpPr/>
          <p:nvPr/>
        </p:nvSpPr>
        <p:spPr>
          <a:xfrm>
            <a:off x="680961" y="6311900"/>
            <a:ext cx="10467473" cy="96253"/>
          </a:xfrm>
          <a:prstGeom prst="rect">
            <a:avLst/>
          </a:prstGeom>
          <a:solidFill>
            <a:srgbClr val="FD7E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D43526-2AD8-D146-272B-C1F7F26EBAD7}"/>
              </a:ext>
            </a:extLst>
          </p:cNvPr>
          <p:cNvSpPr/>
          <p:nvPr/>
        </p:nvSpPr>
        <p:spPr>
          <a:xfrm>
            <a:off x="909559" y="6468311"/>
            <a:ext cx="10467473" cy="96253"/>
          </a:xfrm>
          <a:prstGeom prst="rect">
            <a:avLst/>
          </a:prstGeom>
          <a:solidFill>
            <a:srgbClr val="3A9D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FC28E5-4A07-160F-3EDE-755D5BB53D06}"/>
              </a:ext>
            </a:extLst>
          </p:cNvPr>
          <p:cNvSpPr/>
          <p:nvPr/>
        </p:nvSpPr>
        <p:spPr>
          <a:xfrm>
            <a:off x="1061961" y="6612690"/>
            <a:ext cx="10467473" cy="96253"/>
          </a:xfrm>
          <a:prstGeom prst="rect">
            <a:avLst/>
          </a:prstGeom>
          <a:solidFill>
            <a:srgbClr val="F4BD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ue arrows pointing to a square&#10;&#10;AI-generated content may be incorrect.">
            <a:extLst>
              <a:ext uri="{FF2B5EF4-FFF2-40B4-BE49-F238E27FC236}">
                <a16:creationId xmlns:a16="http://schemas.microsoft.com/office/drawing/2014/main" id="{6B9A063A-4A5C-1F7E-823B-19BC048C0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805" y="1475602"/>
            <a:ext cx="1263822" cy="1299863"/>
          </a:xfrm>
          <a:prstGeom prst="rect">
            <a:avLst/>
          </a:prstGeom>
        </p:spPr>
      </p:pic>
      <p:pic>
        <p:nvPicPr>
          <p:cNvPr id="10" name="Picture 9" descr="A blue graphic with a star and a line&#10;&#10;AI-generated content may be incorrect.">
            <a:extLst>
              <a:ext uri="{FF2B5EF4-FFF2-40B4-BE49-F238E27FC236}">
                <a16:creationId xmlns:a16="http://schemas.microsoft.com/office/drawing/2014/main" id="{57BC49FF-5B90-B133-6BC4-973A8D9CC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674" y="3873845"/>
            <a:ext cx="1253525" cy="12586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346BA7-96E5-ED1A-05BF-B50D0A772DC1}"/>
              </a:ext>
            </a:extLst>
          </p:cNvPr>
          <p:cNvSpPr txBox="1"/>
          <p:nvPr/>
        </p:nvSpPr>
        <p:spPr>
          <a:xfrm>
            <a:off x="1986313" y="2876942"/>
            <a:ext cx="2885371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b="1" dirty="0">
                <a:latin typeface="Morn Thin" pitchFamily="2" charset="77"/>
              </a:rPr>
              <a:t>Roll out optimized copy across all Molson Coors eCommerce channels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09D0E-9281-9011-D785-041A95297D5E}"/>
              </a:ext>
            </a:extLst>
          </p:cNvPr>
          <p:cNvSpPr txBox="1"/>
          <p:nvPr/>
        </p:nvSpPr>
        <p:spPr>
          <a:xfrm>
            <a:off x="7074520" y="2984844"/>
            <a:ext cx="2649834" cy="5632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700" b="1" dirty="0">
                <a:latin typeface="Morn Thin" pitchFamily="2" charset="77"/>
              </a:rPr>
              <a:t>Establish ongoing monitoring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33D9B8-BB4A-D661-56C4-161827796F6E}"/>
              </a:ext>
            </a:extLst>
          </p:cNvPr>
          <p:cNvSpPr txBox="1"/>
          <p:nvPr/>
        </p:nvSpPr>
        <p:spPr>
          <a:xfrm>
            <a:off x="2005186" y="5401359"/>
            <a:ext cx="2847627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b="1" dirty="0">
                <a:latin typeface="Morn Thin" pitchFamily="2" charset="77"/>
              </a:rPr>
              <a:t>Train marketing team on AI optimization best practices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7F3902-E321-A20D-B265-3DB55E18B94E}"/>
              </a:ext>
            </a:extLst>
          </p:cNvPr>
          <p:cNvSpPr txBox="1"/>
          <p:nvPr/>
        </p:nvSpPr>
        <p:spPr>
          <a:xfrm>
            <a:off x="6922491" y="5195257"/>
            <a:ext cx="2953889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b="1" dirty="0">
                <a:latin typeface="Morn Thin" pitchFamily="2" charset="77"/>
              </a:rPr>
              <a:t>Track most popular beer related queries via Google Ads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E7F31E-66F0-217B-8FD6-94EBA0439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505" y="3873845"/>
            <a:ext cx="1488990" cy="1494137"/>
          </a:xfrm>
          <a:prstGeom prst="rect">
            <a:avLst/>
          </a:prstGeom>
        </p:spPr>
      </p:pic>
      <p:pic>
        <p:nvPicPr>
          <p:cNvPr id="3" name="Picture 2" descr="A computer screen with a black background&#10;&#10;AI-generated content may be incorrect.">
            <a:extLst>
              <a:ext uri="{FF2B5EF4-FFF2-40B4-BE49-F238E27FC236}">
                <a16:creationId xmlns:a16="http://schemas.microsoft.com/office/drawing/2014/main" id="{4AB40563-267A-566B-6CBA-B34E97A0F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179" y="1396862"/>
            <a:ext cx="1576517" cy="162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5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ow of cans of different brands&#10;&#10;AI-generated content may be incorrect.">
            <a:extLst>
              <a:ext uri="{FF2B5EF4-FFF2-40B4-BE49-F238E27FC236}">
                <a16:creationId xmlns:a16="http://schemas.microsoft.com/office/drawing/2014/main" id="{DFA692B6-4C1F-8495-C30C-0A46001658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358"/>
          <a:stretch>
            <a:fillRect/>
          </a:stretch>
        </p:blipFill>
        <p:spPr>
          <a:xfrm>
            <a:off x="12575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245F8A-ABB5-E194-FD2F-9CA9FAC6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5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383</Words>
  <Application>Microsoft Macintosh PowerPoint</Application>
  <PresentationFormat>Widescreen</PresentationFormat>
  <Paragraphs>61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Morn</vt:lpstr>
      <vt:lpstr>Morn Thin</vt:lpstr>
      <vt:lpstr>Office Theme</vt:lpstr>
      <vt:lpstr>Optimizing Product Descriptions Coors Light vs. Bud Light</vt:lpstr>
      <vt:lpstr>Online B2C Sales</vt:lpstr>
      <vt:lpstr>Establishing Data Foundation</vt:lpstr>
      <vt:lpstr>Understanding Correlation Patterns in the Sales Index</vt:lpstr>
      <vt:lpstr>Facts, Length, and Density are the Top Drivers of AI Search Results</vt:lpstr>
      <vt:lpstr>Optimal Sentence Length Should Be 11-15 Words</vt:lpstr>
      <vt:lpstr>Fact Dense Ad Copy is Preferred By AI Search Engines</vt:lpstr>
      <vt:lpstr>PowerPoint Presentation</vt:lpstr>
      <vt:lpstr>8-Week Actionable Implementation</vt:lpstr>
      <vt:lpstr>Regional Opportunities for Molson Coors</vt:lpstr>
      <vt:lpstr>Long-Term Holistic Approach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Chuck Steffen</dc:creator>
  <cp:lastModifiedBy>Chuck Steffen</cp:lastModifiedBy>
  <cp:revision>3</cp:revision>
  <dcterms:created xsi:type="dcterms:W3CDTF">2025-11-07T19:07:38Z</dcterms:created>
  <dcterms:modified xsi:type="dcterms:W3CDTF">2025-11-10T17:54:19Z</dcterms:modified>
</cp:coreProperties>
</file>